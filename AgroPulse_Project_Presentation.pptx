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640080"/>
            <a:ext cx="4206240" cy="384048"/>
          </a:xfrm>
          <a:prstGeom prst="roundRect">
            <a:avLst/>
          </a:prstGeom>
          <a:solidFill>
            <a:srgbClr val="18231D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B8F234"/>
                </a:solidFill>
                <a:latin typeface="Segoe UI"/>
              </a:defRPr>
            </a:pPr>
            <a:r>
              <a:t>🌱 ENGINEERING CLINICS · 2026 - 2027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8FAFC"/>
                </a:solidFill>
                <a:latin typeface="Segoe UI"/>
              </a:defRPr>
            </a:pPr>
            <a:r>
              <a:t>AgroPulse Intelligence</a:t>
            </a:r>
          </a:p>
          <a:p>
            <a:pPr>
              <a:spcBef>
                <a:spcPts val="800"/>
              </a:spcBef>
              <a:defRPr sz="1700" b="1">
                <a:solidFill>
                  <a:srgbClr val="10B981"/>
                </a:solidFill>
                <a:latin typeface="Segoe UI"/>
              </a:defRPr>
            </a:pPr>
            <a:r>
              <a:t>Smart Fertilizer Recommendations using Soil Moisture Sensors &amp; Phone Camera</a:t>
            </a:r>
          </a:p>
          <a:p>
            <a:pPr>
              <a:spcBef>
                <a:spcPts val="400"/>
              </a:spcBef>
              <a:defRPr sz="1300">
                <a:solidFill>
                  <a:srgbClr val="9CA3AF"/>
                </a:solidFill>
                <a:latin typeface="Segoe UI"/>
              </a:defRPr>
            </a:pPr>
            <a:r>
              <a:t>Department of Computer Science &amp; Engineering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063240"/>
            <a:ext cx="10728655" cy="1051560"/>
          </a:xfrm>
          <a:prstGeom prst="roundRect">
            <a:avLst/>
          </a:prstGeom>
          <a:solidFill>
            <a:srgbClr val="121A16"/>
          </a:solidFill>
          <a:ln w="12700">
            <a:solidFill>
              <a:srgbClr val="223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B8F234"/>
                </a:solidFill>
                <a:latin typeface="Segoe UI"/>
              </a:defRPr>
            </a:pPr>
            <a:r>
              <a:t>WHAT THIS PROJECT DOES IN ONE SENTENCE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Most farmers guess fertilizer dosage just by looking at leaf color. If they guess wrong, crops die. AgroPulse connects a simple ₹100 soil moisture stick with your phone camera to calculate the exact, safe fertilizer dosage in under 3 seconds.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343400"/>
            <a:ext cx="2542032" cy="1828800"/>
          </a:xfrm>
          <a:prstGeom prst="roundRect">
            <a:avLst/>
          </a:prstGeom>
          <a:solidFill>
            <a:srgbClr val="18231D"/>
          </a:solidFill>
          <a:ln w="12700">
            <a:solidFill>
              <a:srgbClr val="223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0B981"/>
                </a:solidFill>
                <a:latin typeface="Segoe UI"/>
              </a:defRPr>
            </a:pPr>
            <a:r>
              <a:t>TEAM LEAD</a:t>
            </a:r>
          </a:p>
          <a:p>
            <a:pPr>
              <a:spcBef>
                <a:spcPts val="300"/>
              </a:spcBef>
              <a:defRPr sz="1500" b="1">
                <a:solidFill>
                  <a:srgbClr val="F8FAFC"/>
                </a:solidFill>
                <a:latin typeface="Segoe UI"/>
              </a:defRPr>
            </a:pPr>
            <a:r>
              <a:t>Aman Singh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AI Pipeline &amp; Web 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4343400"/>
            <a:ext cx="2542032" cy="1828800"/>
          </a:xfrm>
          <a:prstGeom prst="roundRect">
            <a:avLst/>
          </a:prstGeom>
          <a:solidFill>
            <a:srgbClr val="18231D"/>
          </a:solidFill>
          <a:ln w="12700">
            <a:solidFill>
              <a:srgbClr val="223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0B981"/>
                </a:solidFill>
                <a:latin typeface="Segoe UI"/>
              </a:defRPr>
            </a:pPr>
            <a:r>
              <a:t>TEAM MEMBER</a:t>
            </a:r>
          </a:p>
          <a:p>
            <a:pPr>
              <a:spcBef>
                <a:spcPts val="300"/>
              </a:spcBef>
              <a:defRPr sz="1500" b="1">
                <a:solidFill>
                  <a:srgbClr val="F8FAFC"/>
                </a:solidFill>
                <a:latin typeface="Segoe UI"/>
              </a:defRPr>
            </a:pPr>
            <a:r>
              <a:t>Ankit Kumar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ESP32 Sensor &amp; Firmware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4343400"/>
            <a:ext cx="2542032" cy="1828800"/>
          </a:xfrm>
          <a:prstGeom prst="roundRect">
            <a:avLst/>
          </a:prstGeom>
          <a:solidFill>
            <a:srgbClr val="18231D"/>
          </a:solidFill>
          <a:ln w="12700">
            <a:solidFill>
              <a:srgbClr val="223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0B981"/>
                </a:solidFill>
                <a:latin typeface="Segoe UI"/>
              </a:defRPr>
            </a:pPr>
            <a:r>
              <a:t>TEAM MEMBER</a:t>
            </a:r>
          </a:p>
          <a:p>
            <a:pPr>
              <a:spcBef>
                <a:spcPts val="300"/>
              </a:spcBef>
              <a:defRPr sz="1500" b="1">
                <a:solidFill>
                  <a:srgbClr val="F8FAFC"/>
                </a:solidFill>
                <a:latin typeface="Segoe UI"/>
              </a:defRPr>
            </a:pPr>
            <a:r>
              <a:t>Aditya Gupta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Dashboard &amp; User Interface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4343400"/>
            <a:ext cx="2542032" cy="1828800"/>
          </a:xfrm>
          <a:prstGeom prst="roundRect">
            <a:avLst/>
          </a:prstGeom>
          <a:solidFill>
            <a:srgbClr val="18231D"/>
          </a:solidFill>
          <a:ln w="12700">
            <a:solidFill>
              <a:srgbClr val="223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0B981"/>
                </a:solidFill>
                <a:latin typeface="Segoe UI"/>
              </a:defRPr>
            </a:pPr>
            <a:r>
              <a:t>TEAM MEMBER</a:t>
            </a:r>
          </a:p>
          <a:p>
            <a:pPr>
              <a:spcBef>
                <a:spcPts val="300"/>
              </a:spcBef>
              <a:defRPr sz="1500" b="1">
                <a:solidFill>
                  <a:srgbClr val="F8FAFC"/>
                </a:solidFill>
                <a:latin typeface="Segoe UI"/>
              </a:defRPr>
            </a:pPr>
            <a:r>
              <a:t>Aman Raj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Crop Testing &amp; Verification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  <a:latin typeface="Segoe UI"/>
              </a:defRPr>
            </a:pPr>
            <a:r>
              <a:t>Faculty Guide: [Faculty Mentor Name]   |   Academic Year: 2026 - 2027   |   Computer Science &amp;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SECTION 01 ·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Why Farmers Guess Wrong and Damage Their Crops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CA3AF"/>
                </a:solidFill>
                <a:latin typeface="Segoe UI"/>
              </a:defRPr>
            </a:pPr>
            <a:r>
              <a:t>When leaves turn yellow, is the plant thirsty or is it starving? Guessing kills plants.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2011680"/>
          </a:xfrm>
          <a:prstGeom prst="roundRect">
            <a:avLst/>
          </a:prstGeom>
          <a:solidFill>
            <a:srgbClr val="18231D"/>
          </a:solidFill>
          <a:ln w="12700">
            <a:solidFill>
              <a:srgbClr val="223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59E0B"/>
                </a:solidFill>
                <a:latin typeface="Segoe UI"/>
              </a:defRPr>
            </a:pPr>
            <a:r>
              <a:t>65% Wasted</a:t>
            </a:r>
          </a:p>
          <a:p>
            <a:pPr>
              <a:spcBef>
                <a:spcPts val="4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Excess Fertilizer Thrown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Farmers usually guess fertilizer by eye. They dump too much Urea, which burns roots, wastes money, and ruins soil.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429000" cy="2011680"/>
          </a:xfrm>
          <a:prstGeom prst="roundRect">
            <a:avLst/>
          </a:prstGeom>
          <a:solidFill>
            <a:srgbClr val="18231D"/>
          </a:solidFill>
          <a:ln w="12700">
            <a:solidFill>
              <a:srgbClr val="223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38BDF8"/>
                </a:solidFill>
                <a:latin typeface="Segoe UI"/>
              </a:defRPr>
            </a:pPr>
            <a:r>
              <a:t>14 Days Late</a:t>
            </a:r>
          </a:p>
          <a:p>
            <a:pPr>
              <a:spcBef>
                <a:spcPts val="4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Soil Lab Test Delay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Government soil testing labs take two full weeks to deliver reports. By then, dying plants are already lost.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429000" cy="2011680"/>
          </a:xfrm>
          <a:prstGeom prst="roundRect">
            <a:avLst/>
          </a:prstGeom>
          <a:solidFill>
            <a:srgbClr val="18231D"/>
          </a:solidFill>
          <a:ln w="12700">
            <a:solidFill>
              <a:srgbClr val="223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10B981"/>
                </a:solidFill>
                <a:latin typeface="Segoe UI"/>
              </a:defRPr>
            </a:pPr>
            <a:r>
              <a:t>₹8,500 / Acre</a:t>
            </a:r>
          </a:p>
          <a:p>
            <a:pPr>
              <a:spcBef>
                <a:spcPts val="4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Money Lost Every Year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Small farmers spend up to 30% of their farming budget buying the wrong chemical fertilizers for their fields.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10728655" cy="2286000"/>
          </a:xfrm>
          <a:prstGeom prst="roundRect">
            <a:avLst/>
          </a:prstGeom>
          <a:solidFill>
            <a:srgbClr val="121A16"/>
          </a:solidFill>
          <a:ln w="12700">
            <a:solidFill>
              <a:srgbClr val="223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8F234"/>
                </a:solidFill>
                <a:latin typeface="Segoe UI"/>
              </a:defRPr>
            </a:pPr>
            <a:r>
              <a:t>THE BIGGEST REASON: SICK LEAVES AND THIRSTY LEAVES LOOK THE SAME</a:t>
            </a:r>
          </a:p>
          <a:p>
            <a:pPr>
              <a:spcBef>
                <a:spcPts val="7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A yellowing leaf looks almost identical whether the plant is starved of Nitrogen, or suffocating in flooded water, or dried up from thirst.</a:t>
            </a:r>
          </a:p>
          <a:p>
            <a:pPr>
              <a:spcBef>
                <a:spcPts val="7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When farmers see yellow leaves, they immediately assume: 'I need to buy Urea (Nitrogen).' But if the soil was already waterlogged, dumping chemical fertilizer burns the roots and finishes off the crop.</a:t>
            </a:r>
          </a:p>
          <a:p>
            <a:pPr>
              <a:spcBef>
                <a:spcPts val="7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Conclusion: You cannot diagnose a plant just from a photo. You must check the soil moisture and the leaf photo together.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SECTION 02 · WHY EXISTING TOOLS FAIL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Why Current Apps and Sensors Don't Solve This Alone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CA3AF"/>
                </a:solidFill>
                <a:latin typeface="Segoe UI"/>
              </a:defRPr>
            </a:pPr>
            <a:r>
              <a:t>Looking at the leaf alone or soil alone only gives you half the story.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480560"/>
          </a:xfrm>
          <a:prstGeom prst="roundRect">
            <a:avLst/>
          </a:prstGeom>
          <a:solidFill>
            <a:srgbClr val="18231D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59E0B"/>
                </a:solidFill>
                <a:latin typeface="Segoe UI"/>
              </a:defRPr>
            </a:pPr>
            <a:r>
              <a:t>LIMITATION 1: CAMERA-ONLY PHONE APPS (e.g. Plantix)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  <a:latin typeface="Segoe UI"/>
              </a:defRPr>
            </a:pPr>
            <a:r>
              <a:t>✗  Only look at the surface: They inspect the leaf picture, but have no idea what is happening underground in the dirt.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  <a:latin typeface="Segoe UI"/>
              </a:defRPr>
            </a:pPr>
            <a:r>
              <a:t>✗  Easily fooled by watering issues: A leaf curled from thirst gets flagged as a fungal disease, recommending expensive chemical sprays.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  <a:latin typeface="Segoe UI"/>
              </a:defRPr>
            </a:pPr>
            <a:r>
              <a:t>✗  Costly mistake: Tells the farmer to spend ₹500 on fertilizer when all the plant needed was 2 buckets of plain water.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  <a:latin typeface="Segoe UI"/>
              </a:defRPr>
            </a:pPr>
            <a:r>
              <a:t>✗  Needs strong internet: Uploading big camera photos often fails on slow rural 2G/3G connections.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095" y="1645920"/>
            <a:ext cx="5212080" cy="4480560"/>
          </a:xfrm>
          <a:prstGeom prst="roundRect">
            <a:avLst/>
          </a:prstGeom>
          <a:solidFill>
            <a:srgbClr val="18231D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8BDF8"/>
                </a:solidFill>
                <a:latin typeface="Segoe UI"/>
              </a:defRPr>
            </a:pPr>
            <a:r>
              <a:t>LIMITATION 2: SOIL SENSORS ALONE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  <a:latin typeface="Segoe UI"/>
              </a:defRPr>
            </a:pPr>
            <a:r>
              <a:t>✗  Totally blind: Soil sensors measure moisture and temperature, but they cannot see the leaves or the plant.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  <a:latin typeface="Segoe UI"/>
              </a:defRPr>
            </a:pPr>
            <a:r>
              <a:t>✗  Cannot detect infections: They cannot spot brown fungus spots, insect holes, or yellow leaf edges.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  <a:latin typeface="Segoe UI"/>
              </a:defRPr>
            </a:pPr>
            <a:r>
              <a:t>✗  Expensive to add cameras: Putting high-end camera modules onto outdoor soil sticks makes them fragile and costs ₹5,000+.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  <a:latin typeface="Segoe UI"/>
              </a:defRPr>
            </a:pPr>
            <a:r>
              <a:t>✗  No practical advice: Only shows a number like 'Soil: 24%'. A farmer still has no clue what fertilizer to buy.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SECTION 03 ·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What We Built in This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CA3AF"/>
                </a:solidFill>
                <a:latin typeface="Segoe UI"/>
              </a:defRPr>
            </a:pPr>
            <a:r>
              <a:t>5 clear, achievable goals from our approved project synopsis.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777240"/>
          </a:xfrm>
          <a:prstGeom prst="roundRect">
            <a:avLst/>
          </a:prstGeom>
          <a:solidFill>
            <a:srgbClr val="18231D"/>
          </a:solidFill>
          <a:ln w="12700">
            <a:solidFill>
              <a:srgbClr val="223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GOAL 1: CHEAP SOIL SENSOR PROBE (&lt; ₹1,000)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Build a simple, rust-proof soil probe using an ESP32 micro-chip, a capacitive moisture sensor, and a temperature sensor that connects via Wi-Fi.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10728655" cy="777240"/>
          </a:xfrm>
          <a:prstGeom prst="roundRect">
            <a:avLst/>
          </a:prstGeom>
          <a:solidFill>
            <a:srgbClr val="18231D"/>
          </a:solidFill>
          <a:ln w="12700">
            <a:solidFill>
              <a:srgbClr val="223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GOAL 2: USE THE FARMER'S OWN SMARTPHONE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No expensive camera on the probe. The farmer opens a webpage on their phone, points their phone camera, and snaps the leaf photo.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10728655" cy="777240"/>
          </a:xfrm>
          <a:prstGeom prst="roundRect">
            <a:avLst/>
          </a:prstGeom>
          <a:solidFill>
            <a:srgbClr val="18231D"/>
          </a:solidFill>
          <a:ln w="12700">
            <a:solidFill>
              <a:srgbClr val="223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8F234"/>
                </a:solidFill>
                <a:latin typeface="Segoe UI"/>
              </a:defRPr>
            </a:pPr>
            <a:r>
              <a:t>GOAL 3: TWO-STAGE AI TEAMWORK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First AI checks the leaf photo for symptoms (spots, yellowing). Second AI checks the soil moisture to calculate the exact fertilizer recipe.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89120"/>
            <a:ext cx="10728655" cy="777240"/>
          </a:xfrm>
          <a:prstGeom prst="roundRect">
            <a:avLst/>
          </a:prstGeom>
          <a:solidFill>
            <a:srgbClr val="18231D"/>
          </a:solidFill>
          <a:ln w="12700">
            <a:solidFill>
              <a:srgbClr val="223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GOAL 4: SIMPLE SPOON &amp; GRAM DOSAGES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Give easy instructions like '40 grams per plant' or '2 spoons per liter', plus 100% natural organic options like wood ash and compost.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03520"/>
            <a:ext cx="10728655" cy="777240"/>
          </a:xfrm>
          <a:prstGeom prst="roundRect">
            <a:avLst/>
          </a:prstGeom>
          <a:solidFill>
            <a:srgbClr val="18231D"/>
          </a:solidFill>
          <a:ln w="12700">
            <a:solidFill>
              <a:srgbClr val="223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GOAL 5: INSTANT PRINTABLE HEALTH CARD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Create a clean 14-day recovery schedule that farmers can download as a PDF or share on WhatsApp in under 3 seconds.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SECTION 04 ·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How AgroPulse Compares to Existing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CA3AF"/>
                </a:solidFill>
                <a:latin typeface="Segoe UI"/>
              </a:defRPr>
            </a:pPr>
            <a:r>
              <a:t>A quick look at why combining sensors and phone cameras works better.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16764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084831"/>
                <a:gridCol w="2084831"/>
                <a:gridCol w="2084831"/>
                <a:gridCol w="2084831"/>
              </a:tblGrid>
              <a:tr h="87782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B8F234"/>
                          </a:solidFill>
                          <a:latin typeface="Segoe UI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1823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B8F234"/>
                          </a:solidFill>
                          <a:latin typeface="Segoe UI"/>
                        </a:defRPr>
                      </a:pPr>
                      <a:r>
                        <a:t>How Fast?</a:t>
                      </a:r>
                    </a:p>
                  </a:txBody>
                  <a:tcPr>
                    <a:solidFill>
                      <a:srgbClr val="1823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B8F234"/>
                          </a:solidFill>
                          <a:latin typeface="Segoe UI"/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1823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B8F234"/>
                          </a:solidFill>
                          <a:latin typeface="Segoe UI"/>
                        </a:defRPr>
                      </a:pPr>
                      <a:r>
                        <a:t>Checks Soil?</a:t>
                      </a:r>
                    </a:p>
                  </a:txBody>
                  <a:tcPr>
                    <a:solidFill>
                      <a:srgbClr val="1823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B8F234"/>
                          </a:solidFill>
                          <a:latin typeface="Segoe UI"/>
                        </a:defRPr>
                      </a:pPr>
                      <a:r>
                        <a:t>Our Verdict</a:t>
                      </a:r>
                    </a:p>
                  </a:txBody>
                  <a:tcPr>
                    <a:solidFill>
                      <a:srgbClr val="18231D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Soil Testing Lab</a:t>
                      </a:r>
                    </a:p>
                  </a:txBody>
                  <a:tcPr>
                    <a:solidFill>
                      <a:srgbClr val="121A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CA3AF"/>
                          </a:solidFill>
                          <a:latin typeface="Segoe UI"/>
                        </a:defRPr>
                      </a:pPr>
                      <a:r>
                        <a:t>10 to 14 Days</a:t>
                      </a:r>
                    </a:p>
                  </a:txBody>
                  <a:tcPr>
                    <a:solidFill>
                      <a:srgbClr val="121A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CA3AF"/>
                          </a:solidFill>
                          <a:latin typeface="Segoe UI"/>
                        </a:defRPr>
                      </a:pPr>
                      <a:r>
                        <a:t>₹800+ per test</a:t>
                      </a:r>
                    </a:p>
                  </a:txBody>
                  <a:tcPr>
                    <a:solidFill>
                      <a:srgbClr val="121A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CA3AF"/>
                          </a:solidFill>
                          <a:latin typeface="Segoe UI"/>
                        </a:defRPr>
                      </a:pPr>
                      <a:r>
                        <a:t>Yes (Sample)</a:t>
                      </a:r>
                    </a:p>
                  </a:txBody>
                  <a:tcPr>
                    <a:solidFill>
                      <a:srgbClr val="121A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CA3AF"/>
                          </a:solidFill>
                          <a:latin typeface="Segoe UI"/>
                        </a:defRPr>
                      </a:pPr>
                      <a:r>
                        <a:t>Accurate, but far too slow when a crop is actively dying.</a:t>
                      </a:r>
                    </a:p>
                  </a:txBody>
                  <a:tcPr>
                    <a:solidFill>
                      <a:srgbClr val="121A16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Automatic Sprinklers</a:t>
                      </a:r>
                    </a:p>
                  </a:txBody>
                  <a:tcPr>
                    <a:solidFill>
                      <a:srgbClr val="121A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CA3AF"/>
                          </a:solidFill>
                          <a:latin typeface="Segoe UI"/>
                        </a:defRPr>
                      </a:pPr>
                      <a:r>
                        <a:t>Instant</a:t>
                      </a:r>
                    </a:p>
                  </a:txBody>
                  <a:tcPr>
                    <a:solidFill>
                      <a:srgbClr val="121A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CA3AF"/>
                          </a:solidFill>
                          <a:latin typeface="Segoe UI"/>
                        </a:defRPr>
                      </a:pPr>
                      <a:r>
                        <a:t>₹5,000+ setup</a:t>
                      </a:r>
                    </a:p>
                  </a:txBody>
                  <a:tcPr>
                    <a:solidFill>
                      <a:srgbClr val="121A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CA3AF"/>
                          </a:solidFill>
                          <a:latin typeface="Segoe UI"/>
                        </a:defRPr>
                      </a:pPr>
                      <a:r>
                        <a:t>Water only</a:t>
                      </a:r>
                    </a:p>
                  </a:txBody>
                  <a:tcPr>
                    <a:solidFill>
                      <a:srgbClr val="121A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CA3AF"/>
                          </a:solidFill>
                          <a:latin typeface="Segoe UI"/>
                        </a:defRPr>
                      </a:pPr>
                      <a:r>
                        <a:t>Great for watering, but zero advice on fertilizer or disease.</a:t>
                      </a:r>
                    </a:p>
                  </a:txBody>
                  <a:tcPr>
                    <a:solidFill>
                      <a:srgbClr val="121A16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Phone Apps (Plantix)</a:t>
                      </a:r>
                    </a:p>
                  </a:txBody>
                  <a:tcPr>
                    <a:solidFill>
                      <a:srgbClr val="121A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CA3AF"/>
                          </a:solidFill>
                          <a:latin typeface="Segoe UI"/>
                        </a:defRPr>
                      </a:pPr>
                      <a:r>
                        <a:t>3 to 5 Seconds</a:t>
                      </a:r>
                    </a:p>
                  </a:txBody>
                  <a:tcPr>
                    <a:solidFill>
                      <a:srgbClr val="121A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CA3AF"/>
                          </a:solidFill>
                          <a:latin typeface="Segoe UI"/>
                        </a:defRPr>
                      </a:pPr>
                      <a:r>
                        <a:t>Free / Ads</a:t>
                      </a:r>
                    </a:p>
                  </a:txBody>
                  <a:tcPr>
                    <a:solidFill>
                      <a:srgbClr val="121A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CA3AF"/>
                          </a:solidFill>
                          <a:latin typeface="Segoe UI"/>
                        </a:defRPr>
                      </a:pPr>
                      <a:r>
                        <a:t>No (0% soil data)</a:t>
                      </a:r>
                    </a:p>
                  </a:txBody>
                  <a:tcPr>
                    <a:solidFill>
                      <a:srgbClr val="121A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CA3AF"/>
                          </a:solidFill>
                          <a:latin typeface="Segoe UI"/>
                        </a:defRPr>
                      </a:pPr>
                      <a:r>
                        <a:t>Frequently confuses dry soil with disease, giving wrong sprays.</a:t>
                      </a:r>
                    </a:p>
                  </a:txBody>
                  <a:tcPr>
                    <a:solidFill>
                      <a:srgbClr val="121A16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B8F234"/>
                          </a:solidFill>
                          <a:latin typeface="Segoe UI"/>
                        </a:defRPr>
                      </a:pPr>
                      <a:r>
                        <a:t>AgroPulse (Our Project)</a:t>
                      </a:r>
                    </a:p>
                  </a:txBody>
                  <a:tcPr>
                    <a:solidFill>
                      <a:srgbClr val="102D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Under 3 Seconds</a:t>
                      </a:r>
                    </a:p>
                  </a:txBody>
                  <a:tcPr>
                    <a:solidFill>
                      <a:srgbClr val="102D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Under ₹1,000 total</a:t>
                      </a:r>
                    </a:p>
                  </a:txBody>
                  <a:tcPr>
                    <a:solidFill>
                      <a:srgbClr val="102D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Yes (Live Wi-Fi)</a:t>
                      </a:r>
                    </a:p>
                  </a:txBody>
                  <a:tcPr>
                    <a:solidFill>
                      <a:srgbClr val="102D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Best of both: Connects leaf photo with real-time soil moisture.</a:t>
                      </a:r>
                    </a:p>
                  </a:txBody>
                  <a:tcPr>
                    <a:solidFill>
                      <a:srgbClr val="102D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SECTION 05 · 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The 5-Step Process from Farm to Prescription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CA3AF"/>
                </a:solidFill>
                <a:latin typeface="Segoe UI"/>
              </a:defRPr>
            </a:pPr>
            <a:r>
              <a:t>A clear, seamless journey that takes less than 3 seconds.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011680" cy="4480560"/>
          </a:xfrm>
          <a:prstGeom prst="roundRect">
            <a:avLst/>
          </a:prstGeom>
          <a:solidFill>
            <a:srgbClr val="18231D"/>
          </a:solidFill>
          <a:ln w="12700">
            <a:solidFill>
              <a:srgbClr val="223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STEP 01</a:t>
            </a:r>
          </a:p>
          <a:p>
            <a:pPr>
              <a:spcBef>
                <a:spcPts val="4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Step 1: Put Stick in Soil</a:t>
            </a:r>
          </a:p>
          <a:p>
            <a:pPr>
              <a:spcBef>
                <a:spcPts val="8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Insert the ESP32 probe into the ground. It reads soil moisture percentage and sends it over Wi-Fi to the webpage.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07791" y="1645920"/>
            <a:ext cx="2011680" cy="4480560"/>
          </a:xfrm>
          <a:prstGeom prst="roundRect">
            <a:avLst/>
          </a:prstGeom>
          <a:solidFill>
            <a:srgbClr val="18231D"/>
          </a:solidFill>
          <a:ln w="12700">
            <a:solidFill>
              <a:srgbClr val="223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STEP 02</a:t>
            </a:r>
          </a:p>
          <a:p>
            <a:pPr>
              <a:spcBef>
                <a:spcPts val="4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Step 2: Snap Leaf Photo</a:t>
            </a:r>
          </a:p>
          <a:p>
            <a:pPr>
              <a:spcBef>
                <a:spcPts val="8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Open the website on any phone browser. Hold the camera up to the sick leaf and take a photo.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84064" y="1645920"/>
            <a:ext cx="2011680" cy="4480560"/>
          </a:xfrm>
          <a:prstGeom prst="roundRect">
            <a:avLst/>
          </a:prstGeom>
          <a:solidFill>
            <a:srgbClr val="18231D"/>
          </a:solidFill>
          <a:ln w="12700">
            <a:solidFill>
              <a:srgbClr val="223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B8F234"/>
                </a:solidFill>
                <a:latin typeface="Segoe UI"/>
              </a:defRPr>
            </a:pPr>
            <a:r>
              <a:t>STEP 03</a:t>
            </a:r>
          </a:p>
          <a:p>
            <a:pPr>
              <a:spcBef>
                <a:spcPts val="4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Step 3: AI Checks the Leaf</a:t>
            </a:r>
          </a:p>
          <a:p>
            <a:pPr>
              <a:spcBef>
                <a:spcPts val="8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Vision AI looks at the photo to recognize the plant (e.g. Tomato) and spot symptoms like yellow edges or brown blight.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0336" y="1645920"/>
            <a:ext cx="2011680" cy="4480560"/>
          </a:xfrm>
          <a:prstGeom prst="roundRect">
            <a:avLst/>
          </a:prstGeom>
          <a:solidFill>
            <a:srgbClr val="18231D"/>
          </a:solidFill>
          <a:ln w="12700">
            <a:solidFill>
              <a:srgbClr val="223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STEP 04</a:t>
            </a:r>
          </a:p>
          <a:p>
            <a:pPr>
              <a:spcBef>
                <a:spcPts val="4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Step 4: AI Calculates Dosage</a:t>
            </a:r>
          </a:p>
          <a:p>
            <a:pPr>
              <a:spcBef>
                <a:spcPts val="8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Reasoning AI combines the leaf symptoms with the soil moisture reading to calculate the exact grams of fertilizer needed.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36608" y="1645920"/>
            <a:ext cx="2011680" cy="4480560"/>
          </a:xfrm>
          <a:prstGeom prst="roundRect">
            <a:avLst/>
          </a:prstGeom>
          <a:solidFill>
            <a:srgbClr val="18231D"/>
          </a:solidFill>
          <a:ln w="12700">
            <a:solidFill>
              <a:srgbClr val="223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8FAFC"/>
                </a:solidFill>
                <a:latin typeface="Segoe UI"/>
              </a:defRPr>
            </a:pPr>
            <a:r>
              <a:t>STEP 05</a:t>
            </a:r>
          </a:p>
          <a:p>
            <a:pPr>
              <a:spcBef>
                <a:spcPts val="4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Step 5: Farmer Gets Plan</a:t>
            </a:r>
          </a:p>
          <a:p>
            <a:pPr>
              <a:spcBef>
                <a:spcPts val="8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The website shows an easy-to-read recovery plan with exact measurements, organic alternatives, and a downloadable PDF.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SECTION 06 · HARDWARE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Simple, Inexpensive Parts That Don't 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CA3AF"/>
                </a:solidFill>
                <a:latin typeface="Segoe UI"/>
              </a:defRPr>
            </a:pPr>
            <a:r>
              <a:t>Total hardware kit costs under ₹1,000 (~$11) and connects wirelessly.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6217920" cy="4480560"/>
          </a:xfrm>
          <a:prstGeom prst="roundRect">
            <a:avLst/>
          </a:prstGeom>
          <a:solidFill>
            <a:srgbClr val="18231D"/>
          </a:solidFill>
          <a:ln w="12700">
            <a:solidFill>
              <a:srgbClr val="223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B8F234"/>
                </a:solidFill>
                <a:latin typeface="Segoe UI"/>
              </a:defRPr>
            </a:pPr>
            <a:r>
              <a:t>PARTS LIST &amp; COSTS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•  ESP32 Microcontroller Board — ₹700</a:t>
            </a:r>
          </a:p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   Small computer chip with built-in Wi-Fi. Runs the code and sends soil data to the phone.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•  Capacitive Soil Moisture Sensor v1.2 — ₹120</a:t>
            </a:r>
          </a:p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   Reads moisture in soil. Uses electric fields instead of bare metal, so it NEVER rusts in wet dirt.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•  DHT11 Temperature &amp; Humidity Sensor — ₹90</a:t>
            </a:r>
          </a:p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   Checks air heat and humidity, helping spot weather conditions that breed fungal infections.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•  USB Cable / Power Bank — ₹0</a:t>
            </a:r>
          </a:p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   Powers the board using any standard mobile charger or small power bank.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•  Jumper Wires &amp; Protective Case — ₹50</a:t>
            </a:r>
          </a:p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   Clean wires and simple splash-proof casing for outdoor use.</a:t>
            </a:r>
          </a:p>
          <a:p>
            <a:pPr>
              <a:spcBef>
                <a:spcPts val="800"/>
              </a:spcBef>
              <a:defRPr sz="1200" b="1">
                <a:solidFill>
                  <a:srgbClr val="10B981"/>
                </a:solidFill>
                <a:latin typeface="Segoe UI"/>
              </a:defRPr>
            </a:pPr>
            <a:r>
              <a:t>TOTAL HARDWARE COST: ~₹960 (~$11.50)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645920"/>
            <a:ext cx="4327855" cy="4480560"/>
          </a:xfrm>
          <a:prstGeom prst="roundRect">
            <a:avLst/>
          </a:prstGeom>
          <a:solidFill>
            <a:srgbClr val="18231D"/>
          </a:solidFill>
          <a:ln w="12700">
            <a:solidFill>
              <a:srgbClr val="223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8BDF8"/>
                </a:solidFill>
                <a:latin typeface="Segoe UI"/>
              </a:defRPr>
            </a:pPr>
            <a:r>
              <a:t>WHY THIS HARDWARE IS SMART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✓ Rust-Proof Sensor</a:t>
            </a:r>
          </a:p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   Cheap moisture sensors have bare exposed metal that rusts within a week in wet mud. Our capacitive sensor is coated and lasts years.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✓ No Cables to the Phone</a:t>
            </a:r>
          </a:p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   The ESP32 creates its own Wi-Fi connection, broadcasting soil data straight to the web dashboard without tangled wires.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✓ Battery Friendly</a:t>
            </a:r>
          </a:p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   Runs for days on a pocket-sized 5V mobile power bank, making it portable across field rows.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✓ Zero Setup for Farmers</a:t>
            </a:r>
          </a:p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   Just stick it into the soil and turn it on. No software installation needed.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SECTION 07 · AI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Why We Use Two AI Models Instead of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CA3AF"/>
                </a:solidFill>
                <a:latin typeface="Segoe UI"/>
              </a:defRPr>
            </a:pPr>
            <a:r>
              <a:t>One AI acts as the Eyes. The other AI acts as the Agronomist.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480560"/>
          </a:xfrm>
          <a:prstGeom prst="roundRect">
            <a:avLst/>
          </a:prstGeom>
          <a:solidFill>
            <a:srgbClr val="18231D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AI BRAIN 1: THE BOTANICAL EYES (Gemini / Grok)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✓  Only job is to look: It inspects the leaf photo and describes what it sees in simple points.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✓  Answers three questions: What crop is this? Are the leaves sick? What are the visible symptoms (e.g. yellow edges, brown spots)?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✓  Doesn't guess fertilizer: It NEVER calculates fertilizer doses. This prevents it from making up fake chemical numbers.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✓  Rejects non-plant photos: If someone takes a picture of a pet dog or a person, it instantly stops to avoid wasting money.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✓  Speed: Takes about 1.1 seconds.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095" y="1645920"/>
            <a:ext cx="5212080" cy="4480560"/>
          </a:xfrm>
          <a:prstGeom prst="roundRect">
            <a:avLst/>
          </a:prstGeom>
          <a:solidFill>
            <a:srgbClr val="18231D"/>
          </a:solidFill>
          <a:ln w="12700">
            <a:solidFill>
              <a:srgbClr val="B8F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B8F234"/>
                </a:solidFill>
                <a:latin typeface="Segoe UI"/>
              </a:defRPr>
            </a:pPr>
            <a:r>
              <a:t>AI BRAIN 2: THE AGRONOMIST (DeepSeek)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✓  Does the math: Takes the symptoms from Brain 1 + the soil moisture (24%) from the sensor + the farm size (1 acre).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✓  Gives plain-language doses: Tells the farmer 'Give 40g of Potash per plant' instead of confusing scientific formulas.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✓  Provides organic alternatives: Also gives a 100% natural recipe (like wood ash and compost) for organic farmers.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✓  Creates a 14-day schedule: Tells the farmer exactly what to do on Day 1, Day 4, Day 8, and Day 14.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✓  Why two separate models? When one model tries to do both, it gets confused and gives dangerous dosages.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SECTION 08 · LIVE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Real Working Prototype: Leaf Scanner Viewport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CA3AF"/>
                </a:solidFill>
                <a:latin typeface="Segoe UI"/>
              </a:defRPr>
            </a:pPr>
            <a:r>
              <a:t>A clear visual scan so the farmer knows the picture is actively being examined.</a:t>
            </a:r>
          </a:p>
        </p:txBody>
      </p:sp>
      <p:pic>
        <p:nvPicPr>
          <p:cNvPr id="5" name="Picture 4" descr="screenshot_scannin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583680" cy="441689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89520" y="1645920"/>
            <a:ext cx="3870655" cy="4480560"/>
          </a:xfrm>
          <a:prstGeom prst="roundRect">
            <a:avLst/>
          </a:prstGeom>
          <a:solidFill>
            <a:srgbClr val="18231D"/>
          </a:solidFill>
          <a:ln w="12700">
            <a:solidFill>
              <a:srgbClr val="223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B8F234"/>
                </a:solidFill>
                <a:latin typeface="Segoe UI"/>
              </a:defRPr>
            </a:pPr>
            <a:r>
              <a:t>WHAT YOU SEE ON SCREEN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•  Moving Laser Beam</a:t>
            </a:r>
          </a:p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A smooth green laser sweeps across the leaf, showing that the system is actively inspecting the leaf tissue.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•  Target Brackets</a:t>
            </a:r>
          </a:p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Square brackets lock onto spotted or yellow leaf areas, showing the farmer exactly what the AI noticed.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•  Live Status Pill</a:t>
            </a:r>
          </a:p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A clear label at the top tells the user what the AI is doing right now (e.g. 'Checking leaf spots...').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•  No Long Waiting Silence</a:t>
            </a:r>
          </a:p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Instead of a frozen screen or boring spinner, the farmer sees the AI working in real time.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SECTION 09 · LIVE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Real Working Prototype: Telemetry &amp; Care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CA3AF"/>
                </a:solidFill>
                <a:latin typeface="Segoe UI"/>
              </a:defRPr>
            </a:pPr>
            <a:r>
              <a:t>Clear dials, plain-language dosages, and downloadable prescription reports.</a:t>
            </a:r>
          </a:p>
        </p:txBody>
      </p:sp>
      <p:pic>
        <p:nvPicPr>
          <p:cNvPr id="5" name="Picture 4" descr="screenshot_prescribed_step3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583680" cy="51113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89520" y="1645920"/>
            <a:ext cx="3870655" cy="4480560"/>
          </a:xfrm>
          <a:prstGeom prst="roundRect">
            <a:avLst/>
          </a:prstGeom>
          <a:solidFill>
            <a:srgbClr val="18231D"/>
          </a:solidFill>
          <a:ln w="12700">
            <a:solidFill>
              <a:srgbClr val="223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WHAT THE FARMER RECEIVES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•  Clear Soil Moisture Dial</a:t>
            </a:r>
          </a:p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Shows exact moisture (e.g. 24.0%) and clearly tags it: 'Dry', 'Good', or 'Too Wet'.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•  Connects the Dots</a:t>
            </a:r>
          </a:p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Explains the cause simply: 'Dry soil at 26% is blocking your Tomato roots from absorbing Potassium.'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•  Both Chemical &amp; Organic Options</a:t>
            </a:r>
          </a:p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Farmers can choose between standard store fertilizer (Potash) or home-made organic recipes (wood ash + compost).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•  Printable PDF Card</a:t>
            </a:r>
          </a:p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1-click download button saves a clean digital health card to show at the local fertilizer store.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SECTION 10 · 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Tools and 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CA3AF"/>
                </a:solidFill>
                <a:latin typeface="Segoe UI"/>
              </a:defRPr>
            </a:pPr>
            <a:r>
              <a:t>Reliable, modern software and hardware picked for fast performance.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42032" cy="4480560"/>
          </a:xfrm>
          <a:prstGeom prst="roundRect">
            <a:avLst/>
          </a:prstGeom>
          <a:solidFill>
            <a:srgbClr val="18231D"/>
          </a:solidFill>
          <a:ln w="12700">
            <a:solidFill>
              <a:srgbClr val="223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SENSOR &amp; HARDWARE</a:t>
            </a:r>
          </a:p>
          <a:p>
            <a:pPr>
              <a:spcBef>
                <a:spcPts val="1200"/>
              </a:spcBef>
              <a:defRPr sz="1150">
                <a:solidFill>
                  <a:srgbClr val="F8FAFC"/>
                </a:solidFill>
                <a:latin typeface="Segoe UI"/>
              </a:defRPr>
            </a:pPr>
            <a:r>
              <a:t>ESP32 DevKit Board</a:t>
            </a:r>
            <a:br/>
            <a:r>
              <a:t>Arduino IDE &amp; C++</a:t>
            </a:r>
            <a:br/>
            <a:r>
              <a:t>Wi-Fi Web Server</a:t>
            </a:r>
            <a:br/>
            <a:r>
              <a:t>Capacitive Soil Probe</a:t>
            </a:r>
            <a:br/>
            <a:r>
              <a:t>DHT11 Temp &amp; Humidity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645920"/>
            <a:ext cx="2542032" cy="4480560"/>
          </a:xfrm>
          <a:prstGeom prst="roundRect">
            <a:avLst/>
          </a:prstGeom>
          <a:solidFill>
            <a:srgbClr val="18231D"/>
          </a:solidFill>
          <a:ln w="12700">
            <a:solidFill>
              <a:srgbClr val="223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WEBSITE &amp; DASHBOARD</a:t>
            </a:r>
          </a:p>
          <a:p>
            <a:pPr>
              <a:spcBef>
                <a:spcPts val="1200"/>
              </a:spcBef>
              <a:defRPr sz="1150">
                <a:solidFill>
                  <a:srgbClr val="F8FAFC"/>
                </a:solidFill>
                <a:latin typeface="Segoe UI"/>
              </a:defRPr>
            </a:pPr>
            <a:r>
              <a:t>React 18 &amp; TypeScript</a:t>
            </a:r>
            <a:br/>
            <a:r>
              <a:t>Tailwind CSS Styling</a:t>
            </a:r>
            <a:br/>
            <a:r>
              <a:t>Vite (Instant loading)</a:t>
            </a:r>
            <a:br/>
            <a:r>
              <a:t>Clean Mobile Design</a:t>
            </a:r>
            <a:br/>
            <a:r>
              <a:t>Light &amp; Dark Mode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1645920"/>
            <a:ext cx="2542032" cy="4480560"/>
          </a:xfrm>
          <a:prstGeom prst="roundRect">
            <a:avLst/>
          </a:prstGeom>
          <a:solidFill>
            <a:srgbClr val="18231D"/>
          </a:solidFill>
          <a:ln w="12700">
            <a:solidFill>
              <a:srgbClr val="223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8F234"/>
                </a:solidFill>
                <a:latin typeface="Segoe UI"/>
              </a:defRPr>
            </a:pPr>
            <a:r>
              <a:t>ARTIFICIAL INTELLIGENCE</a:t>
            </a:r>
          </a:p>
          <a:p>
            <a:pPr>
              <a:spcBef>
                <a:spcPts val="1200"/>
              </a:spcBef>
              <a:defRPr sz="1150">
                <a:solidFill>
                  <a:srgbClr val="F8FAFC"/>
                </a:solidFill>
                <a:latin typeface="Segoe UI"/>
              </a:defRPr>
            </a:pPr>
            <a:r>
              <a:t>Gemini 1.5 Flash Vision</a:t>
            </a:r>
            <a:br/>
            <a:r>
              <a:t>xAI Grok Vision API</a:t>
            </a:r>
            <a:br/>
            <a:r>
              <a:t>DeepSeek Reasoning API</a:t>
            </a:r>
            <a:br/>
            <a:r>
              <a:t>Strict JSON Responses</a:t>
            </a:r>
            <a:br/>
            <a:r>
              <a:t>Anti-Hallucination Rules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06256" y="1645920"/>
            <a:ext cx="2542032" cy="4480560"/>
          </a:xfrm>
          <a:prstGeom prst="roundRect">
            <a:avLst/>
          </a:prstGeom>
          <a:solidFill>
            <a:srgbClr val="18231D"/>
          </a:solidFill>
          <a:ln w="12700">
            <a:solidFill>
              <a:srgbClr val="223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DOCUMENT GENERATION</a:t>
            </a:r>
          </a:p>
          <a:p>
            <a:pPr>
              <a:spcBef>
                <a:spcPts val="1200"/>
              </a:spcBef>
              <a:defRPr sz="1150">
                <a:solidFill>
                  <a:srgbClr val="F8FAFC"/>
                </a:solidFill>
                <a:latin typeface="Segoe UI"/>
              </a:defRPr>
            </a:pPr>
            <a:r>
              <a:t>jsPDF Document Creator</a:t>
            </a:r>
            <a:br/>
            <a:r>
              <a:t>HTML2Canvas Graphics</a:t>
            </a:r>
            <a:br/>
            <a:r>
              <a:t>Wokwi Circuit Simulator</a:t>
            </a:r>
            <a:br/>
            <a:r>
              <a:t>Pre-bundled Sample Leaves</a:t>
            </a:r>
            <a:br/>
            <a:r>
              <a:t>WhatsApp Share Shortcut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SECTION 11 · TEST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Tested on Real Crops and Real Diseases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CA3AF"/>
                </a:solidFill>
                <a:latin typeface="Segoe UI"/>
              </a:defRPr>
            </a:pPr>
            <a:r>
              <a:t>Verified across common garden and field crops with accurate recommendations.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42032" cy="1920240"/>
          </a:xfrm>
          <a:prstGeom prst="roundRect">
            <a:avLst/>
          </a:prstGeom>
          <a:solidFill>
            <a:srgbClr val="18231D"/>
          </a:solidFill>
          <a:ln w="12700">
            <a:solidFill>
              <a:srgbClr val="223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38BDF8"/>
                </a:solidFill>
                <a:latin typeface="Segoe UI"/>
              </a:defRPr>
            </a:pPr>
            <a:r>
              <a:t>&lt; 3 Seconds</a:t>
            </a:r>
          </a:p>
          <a:p>
            <a:pPr>
              <a:spcBef>
                <a:spcPts val="300"/>
              </a:spcBef>
              <a:defRPr sz="1200" b="1">
                <a:solidFill>
                  <a:srgbClr val="F8FAFC"/>
                </a:solidFill>
                <a:latin typeface="Segoe UI"/>
              </a:defRPr>
            </a:pPr>
            <a:r>
              <a:t>Total Response Speed</a:t>
            </a:r>
          </a:p>
          <a:p>
            <a:pPr>
              <a:spcBef>
                <a:spcPts val="400"/>
              </a:spcBef>
              <a:defRPr sz="1000">
                <a:solidFill>
                  <a:srgbClr val="9CA3AF"/>
                </a:solidFill>
                <a:latin typeface="Segoe UI"/>
              </a:defRPr>
            </a:pPr>
            <a:r>
              <a:t>Sensor sends data (&lt;200ms) + AI checks photo (~1.1s) + AI calculates recipe (~1.4s).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645920"/>
            <a:ext cx="2542032" cy="1920240"/>
          </a:xfrm>
          <a:prstGeom prst="roundRect">
            <a:avLst/>
          </a:prstGeom>
          <a:solidFill>
            <a:srgbClr val="18231D"/>
          </a:solidFill>
          <a:ln w="12700">
            <a:solidFill>
              <a:srgbClr val="223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10B981"/>
                </a:solidFill>
                <a:latin typeface="Segoe UI"/>
              </a:defRPr>
            </a:pPr>
            <a:r>
              <a:t>94% Accurate</a:t>
            </a:r>
          </a:p>
          <a:p>
            <a:pPr>
              <a:spcBef>
                <a:spcPts val="300"/>
              </a:spcBef>
              <a:defRPr sz="1200" b="1">
                <a:solidFill>
                  <a:srgbClr val="F8FAFC"/>
                </a:solidFill>
                <a:latin typeface="Segoe UI"/>
              </a:defRPr>
            </a:pPr>
            <a:r>
              <a:t>Symptom Detection</a:t>
            </a:r>
          </a:p>
          <a:p>
            <a:pPr>
              <a:spcBef>
                <a:spcPts val="400"/>
              </a:spcBef>
              <a:defRPr sz="1000">
                <a:solidFill>
                  <a:srgbClr val="9CA3AF"/>
                </a:solidFill>
                <a:latin typeface="Segoe UI"/>
              </a:defRPr>
            </a:pPr>
            <a:r>
              <a:t>Correctly identified Late Blight, Nitrogen Deficiency, and Leaf Chlorosis.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1645920"/>
            <a:ext cx="2542032" cy="1920240"/>
          </a:xfrm>
          <a:prstGeom prst="roundRect">
            <a:avLst/>
          </a:prstGeom>
          <a:solidFill>
            <a:srgbClr val="18231D"/>
          </a:solidFill>
          <a:ln w="12700">
            <a:solidFill>
              <a:srgbClr val="223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B8F234"/>
                </a:solidFill>
                <a:latin typeface="Segoe UI"/>
              </a:defRPr>
            </a:pPr>
            <a:r>
              <a:t>₹0.08 / scan</a:t>
            </a:r>
          </a:p>
          <a:p>
            <a:pPr>
              <a:spcBef>
                <a:spcPts val="300"/>
              </a:spcBef>
              <a:defRPr sz="1200" b="1">
                <a:solidFill>
                  <a:srgbClr val="F8FAFC"/>
                </a:solidFill>
                <a:latin typeface="Segoe UI"/>
              </a:defRPr>
            </a:pPr>
            <a:r>
              <a:t>Super Cheap to Run</a:t>
            </a:r>
          </a:p>
          <a:p>
            <a:pPr>
              <a:spcBef>
                <a:spcPts val="400"/>
              </a:spcBef>
              <a:defRPr sz="1000">
                <a:solidFill>
                  <a:srgbClr val="9CA3AF"/>
                </a:solidFill>
                <a:latin typeface="Segoe UI"/>
              </a:defRPr>
            </a:pPr>
            <a:r>
              <a:t>Separating the models keeps API token costs at mere fractions of a single rupee.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06256" y="1645920"/>
            <a:ext cx="2542032" cy="1920240"/>
          </a:xfrm>
          <a:prstGeom prst="roundRect">
            <a:avLst/>
          </a:prstGeom>
          <a:solidFill>
            <a:srgbClr val="18231D"/>
          </a:solidFill>
          <a:ln w="12700">
            <a:solidFill>
              <a:srgbClr val="223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59E0B"/>
                </a:solidFill>
                <a:latin typeface="Segoe UI"/>
              </a:defRPr>
            </a:pPr>
            <a:r>
              <a:t>100% Reliable</a:t>
            </a:r>
          </a:p>
          <a:p>
            <a:pPr>
              <a:spcBef>
                <a:spcPts val="300"/>
              </a:spcBef>
              <a:defRPr sz="1200" b="1">
                <a:solidFill>
                  <a:srgbClr val="F8FAFC"/>
                </a:solidFill>
                <a:latin typeface="Segoe UI"/>
              </a:defRPr>
            </a:pPr>
            <a:r>
              <a:t>Works Anywhere</a:t>
            </a:r>
          </a:p>
          <a:p>
            <a:pPr>
              <a:spcBef>
                <a:spcPts val="400"/>
              </a:spcBef>
              <a:defRPr sz="1000">
                <a:solidFill>
                  <a:srgbClr val="9CA3AF"/>
                </a:solidFill>
                <a:latin typeface="Segoe UI"/>
              </a:defRPr>
            </a:pPr>
            <a:r>
              <a:t>Pre-bundled sample leaves let users test the system even when offline.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728655" cy="2286000"/>
          </a:xfrm>
          <a:prstGeom prst="roundRect">
            <a:avLst/>
          </a:prstGeom>
          <a:solidFill>
            <a:srgbClr val="121A16"/>
          </a:solidFill>
          <a:ln w="12700">
            <a:solidFill>
              <a:srgbClr val="223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8F234"/>
                </a:solidFill>
                <a:latin typeface="Segoe UI"/>
              </a:defRPr>
            </a:pPr>
            <a:r>
              <a:t>REAL CROPS TESTED IN OUR PROTOTYPE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•  Potato Leaf  ──  Late Blight Disease  |  Soil: 82% (Flooded)</a:t>
            </a:r>
          </a:p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   Result: System warned farmer to STOP watering immediately and apply copper fungicide spray.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•  Maize Leaf  ──  Severe Nitrogen Starvation  |  Soil: 24% (Bone Dry)</a:t>
            </a:r>
          </a:p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   Result: Advised farmer to give 2 buckets of water first, then apply split Urea fertilizer.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•  Tomato Leaf  ──  Early Blight &amp; Potassium Deficit  |  Soil: 26% (Dry)</a:t>
            </a:r>
          </a:p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   Result: Prescribed 40g Potash per plant + water schedule + 14-day recovery calendar.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•  Mango Leaf  ──  Zinc Micronutrient Chlorosis  |  Soil: 32% (Normal)</a:t>
            </a:r>
          </a:p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   Result: Recommended gentle Zinc Sulfate foliar mist on leaf undersides.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SECTION 12 · REAL-WORLD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Why This Matters for Farmers and the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CA3AF"/>
                </a:solidFill>
                <a:latin typeface="Segoe UI"/>
              </a:defRPr>
            </a:pPr>
            <a:r>
              <a:t>Simple technology that saves real money and protects soil health.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4480560"/>
          </a:xfrm>
          <a:prstGeom prst="roundRect">
            <a:avLst/>
          </a:prstGeom>
          <a:solidFill>
            <a:srgbClr val="18231D"/>
          </a:solidFill>
          <a:ln w="12700">
            <a:solidFill>
              <a:srgbClr val="223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SAVES FARMER MONEY</a:t>
            </a:r>
          </a:p>
          <a:p>
            <a:pPr>
              <a:spcBef>
                <a:spcPts val="6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Cuts Fertilizer Costs by 25% to 40%</a:t>
            </a:r>
          </a:p>
          <a:p>
            <a:pPr>
              <a:spcBef>
                <a:spcPts val="8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Prevents buying expensive fertilizers that the plant doesn't need.</a:t>
            </a:r>
          </a:p>
          <a:p>
            <a:pPr>
              <a:spcBef>
                <a:spcPts val="8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Exact gram-level recipes stop waste from over-application.</a:t>
            </a:r>
          </a:p>
          <a:p>
            <a:pPr>
              <a:spcBef>
                <a:spcPts val="8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The ₹960 sensor probe pays for itself within a single crop season.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429000" cy="4480560"/>
          </a:xfrm>
          <a:prstGeom prst="roundRect">
            <a:avLst/>
          </a:prstGeom>
          <a:solidFill>
            <a:srgbClr val="18231D"/>
          </a:solidFill>
          <a:ln w="12700">
            <a:solidFill>
              <a:srgbClr val="223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8F234"/>
                </a:solidFill>
                <a:latin typeface="Segoe UI"/>
              </a:defRPr>
            </a:pPr>
            <a:r>
              <a:t>PROTECTS NATURE &amp; SOIL</a:t>
            </a:r>
          </a:p>
          <a:p>
            <a:pPr>
              <a:spcBef>
                <a:spcPts val="6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Stops Soil Poisoning &amp; Water Pollution</a:t>
            </a:r>
          </a:p>
          <a:p>
            <a:pPr>
              <a:spcBef>
                <a:spcPts val="8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Prevents excess chemical Urea from washing into drinking groundwater.</a:t>
            </a:r>
          </a:p>
          <a:p>
            <a:pPr>
              <a:spcBef>
                <a:spcPts val="8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Encourages organic alternatives like wood ash and cow dung compost.</a:t>
            </a:r>
          </a:p>
          <a:p>
            <a:pPr>
              <a:spcBef>
                <a:spcPts val="8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Keeps soil fertile and healthy for future generations of crops.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429000" cy="4480560"/>
          </a:xfrm>
          <a:prstGeom prst="roundRect">
            <a:avLst/>
          </a:prstGeom>
          <a:solidFill>
            <a:srgbClr val="18231D"/>
          </a:solidFill>
          <a:ln w="12700">
            <a:solidFill>
              <a:srgbClr val="223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SIMPLE &amp; ACCESSIBLE</a:t>
            </a:r>
          </a:p>
          <a:p>
            <a:pPr>
              <a:spcBef>
                <a:spcPts val="6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Anyone with a Smartphone Can Use It</a:t>
            </a:r>
          </a:p>
          <a:p>
            <a:pPr>
              <a:spcBef>
                <a:spcPts val="8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Zero installation needed: Works directly in mobile web browsers.</a:t>
            </a:r>
          </a:p>
          <a:p>
            <a:pPr>
              <a:spcBef>
                <a:spcPts val="8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Clear spoon &amp; gram measurements that any family member can follow.</a:t>
            </a:r>
          </a:p>
          <a:p>
            <a:pPr>
              <a:spcBef>
                <a:spcPts val="8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Share care plans directly over WhatsApp with farm hands or family.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SECTION 13 ·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What We Can Add Next to Scale This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CA3AF"/>
                </a:solidFill>
                <a:latin typeface="Segoe UI"/>
              </a:defRPr>
            </a:pPr>
            <a:r>
              <a:t>Practical next steps to take this from college prototype to farm fields.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4480560"/>
          </a:xfrm>
          <a:prstGeom prst="roundRect">
            <a:avLst/>
          </a:prstGeom>
          <a:solidFill>
            <a:srgbClr val="18231D"/>
          </a:solidFill>
          <a:ln w="12700">
            <a:solidFill>
              <a:srgbClr val="223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NEXT STEP 1: REGIONAL VOICE</a:t>
            </a:r>
          </a:p>
          <a:p>
            <a:pPr>
              <a:spcBef>
                <a:spcPts val="6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Voice Advice in Indian Languages</a:t>
            </a:r>
          </a:p>
          <a:p>
            <a:pPr>
              <a:spcBef>
                <a:spcPts val="8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→ Add voice assistance in Hindi, Punjabi, Marathi, Tamil, and Telugu.</a:t>
            </a:r>
          </a:p>
          <a:p>
            <a:pPr>
              <a:spcBef>
                <a:spcPts val="8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→ The system reads the prescription aloud on the phone for farmers who prefer listening over reading.</a:t>
            </a:r>
          </a:p>
          <a:p>
            <a:pPr>
              <a:spcBef>
                <a:spcPts val="8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→ Voice guided step-by-step leaf photo helper.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429000" cy="4480560"/>
          </a:xfrm>
          <a:prstGeom prst="roundRect">
            <a:avLst/>
          </a:prstGeom>
          <a:solidFill>
            <a:srgbClr val="18231D"/>
          </a:solidFill>
          <a:ln w="12700">
            <a:solidFill>
              <a:srgbClr val="223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NEXT STEP 2: AUTOMATIC VALVES</a:t>
            </a:r>
          </a:p>
          <a:p>
            <a:pPr>
              <a:spcBef>
                <a:spcPts val="6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Connect Directly to Water Pipes</a:t>
            </a:r>
          </a:p>
          <a:p>
            <a:pPr>
              <a:spcBef>
                <a:spcPts val="8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→ Connect the ESP32 chip to small automatic pipe valves.</a:t>
            </a:r>
          </a:p>
          <a:p>
            <a:pPr>
              <a:spcBef>
                <a:spcPts val="8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→ When soil gets dangerously dry, the system turns on drip water automatically for 10 minutes.</a:t>
            </a:r>
          </a:p>
          <a:p>
            <a:pPr>
              <a:spcBef>
                <a:spcPts val="8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→ Saves water and prevents plants from drying out while farmer is away.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429000" cy="4480560"/>
          </a:xfrm>
          <a:prstGeom prst="roundRect">
            <a:avLst/>
          </a:prstGeom>
          <a:solidFill>
            <a:srgbClr val="18231D"/>
          </a:solidFill>
          <a:ln w="12700">
            <a:solidFill>
              <a:srgbClr val="223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8F234"/>
                </a:solidFill>
                <a:latin typeface="Segoe UI"/>
              </a:defRPr>
            </a:pPr>
            <a:r>
              <a:t>NEXT STEP 3: DIRECT NPK SENSING</a:t>
            </a:r>
          </a:p>
          <a:p>
            <a:pPr>
              <a:spcBef>
                <a:spcPts val="6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Add Direct Soil Chemical Probes</a:t>
            </a:r>
          </a:p>
          <a:p>
            <a:pPr>
              <a:spcBef>
                <a:spcPts val="8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→ Add optical NPK sensors to directly measure Nitrogen, Phosphorus, and Potassium in the soil.</a:t>
            </a:r>
          </a:p>
          <a:p>
            <a:pPr>
              <a:spcBef>
                <a:spcPts val="8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→ Add small solar panels so the sensor probe can stay outdoors in fields permanently without needing a recharge.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SECTION 14 ·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Summary of Work Done &amp;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CA3AF"/>
                </a:solidFill>
                <a:latin typeface="Segoe UI"/>
              </a:defRPr>
            </a:pPr>
            <a:r>
              <a:t>All project milestones completed as promised in our approved project synopsis.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754880" cy="4480560"/>
          </a:xfrm>
          <a:prstGeom prst="roundRect">
            <a:avLst/>
          </a:prstGeom>
          <a:solidFill>
            <a:srgbClr val="18231D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B8F234"/>
                </a:solidFill>
                <a:latin typeface="Segoe UI"/>
              </a:defRPr>
            </a:pPr>
            <a:r>
              <a:t>WHAT WE ACCOMPLISHED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✓ Built a working IoT soil probe under ₹1,000 using ESP32 and rust-proof sensors.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✓ Solved the problem of guessing plant health by checking leaf photos and soil moisture together.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✓ Created a smart two-step AI pipeline that runs in under 3 seconds without making up fake recipes.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✓ Designed an easy-to-use web dashboard with green laser scanning, dials, and instant PDF download.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✓ Successfully tested on Tomato, Potato, Maize, and Mango leaves with accurate recovery advice.</a:t>
            </a:r>
          </a:p>
          <a:p>
            <a:br/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Thank You! Open for Questions &amp; Discussion.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90895" y="1645920"/>
            <a:ext cx="5669280" cy="4480560"/>
          </a:xfrm>
          <a:prstGeom prst="roundRect">
            <a:avLst/>
          </a:prstGeom>
          <a:solidFill>
            <a:srgbClr val="121A16"/>
          </a:solidFill>
          <a:ln w="12700">
            <a:solidFill>
              <a:srgbClr val="223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FORMAL ACADEMIC REFERENCES (FROM APPROVED SYNOPSIS)</a:t>
            </a:r>
          </a:p>
          <a:p>
            <a:pPr>
              <a:spcBef>
                <a:spcPts val="800"/>
              </a:spcBef>
              <a:defRPr sz="1000">
                <a:solidFill>
                  <a:srgbClr val="9CA3AF"/>
                </a:solidFill>
                <a:latin typeface="Segoe UI"/>
              </a:defRPr>
            </a:pPr>
            <a:r>
              <a:t>[1] Ray, P. P. (2017). Internet of Things for Smart Agriculture: Technologies, Practices and Future Direction. Journal of Ambient Intelligence and Smart Environments, 9(4), 395-420.</a:t>
            </a:r>
          </a:p>
          <a:p>
            <a:pPr>
              <a:spcBef>
                <a:spcPts val="800"/>
              </a:spcBef>
              <a:defRPr sz="1000">
                <a:solidFill>
                  <a:srgbClr val="9CA3AF"/>
                </a:solidFill>
                <a:latin typeface="Segoe UI"/>
              </a:defRPr>
            </a:pPr>
            <a:r>
              <a:t>[2] Kamilaris, A., &amp; Prenafeta-Boldú, F. X. (2018). Deep Learning in Agriculture: A Survey. Computers and Electronics in Agriculture, 147, 70-90.</a:t>
            </a:r>
          </a:p>
          <a:p>
            <a:pPr>
              <a:spcBef>
                <a:spcPts val="800"/>
              </a:spcBef>
              <a:defRPr sz="1000">
                <a:solidFill>
                  <a:srgbClr val="9CA3AF"/>
                </a:solidFill>
                <a:latin typeface="Segoe UI"/>
              </a:defRPr>
            </a:pPr>
            <a:r>
              <a:t>[3] Espressif Systems. (2023). ESP32 Series Datasheet and Hardware Design Guidelines v4.1.</a:t>
            </a:r>
          </a:p>
          <a:p>
            <a:pPr>
              <a:spcBef>
                <a:spcPts val="800"/>
              </a:spcBef>
              <a:defRPr sz="1000">
                <a:solidFill>
                  <a:srgbClr val="9CA3AF"/>
                </a:solidFill>
                <a:latin typeface="Segoe UI"/>
              </a:defRPr>
            </a:pPr>
            <a:r>
              <a:t>[4] xAI. (2024). Grok Vision Multimodal API Documentation &amp; Prompt Design Guidelines.</a:t>
            </a:r>
          </a:p>
          <a:p>
            <a:pPr>
              <a:spcBef>
                <a:spcPts val="800"/>
              </a:spcBef>
              <a:defRPr sz="1000">
                <a:solidFill>
                  <a:srgbClr val="9CA3AF"/>
                </a:solidFill>
                <a:latin typeface="Segoe UI"/>
              </a:defRPr>
            </a:pPr>
            <a:r>
              <a:t>[5] DeepSeek-AI. (2024). DeepSeek-V3 Technical Report and API Reference Architecture.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